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10692000" cx="7560000"/>
  <p:notesSz cx="6858000" cy="9144000"/>
  <p:embeddedFontLst>
    <p:embeddedFont>
      <p:font typeface="Bree Serif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C9D340-4878-4DA4-AC3D-1D19D77E9287}">
  <a:tblStyle styleId="{10C9D340-4878-4DA4-AC3D-1D19D77E92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BreeSerif-regular.fnt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2d62e6aaf_0_0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2d62e6a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2d62e6aaf_0_40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2d62e6aa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04160dcdf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04160dc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2d62e6aaf_0_54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2d62e6aa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2d62e6aaf_0_74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2d62e6aa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06e5ee294_0_1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06e5ee29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2d62e6aaf_0_82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2d62e6aa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2d62e6aaf_0_101:notes"/>
          <p:cNvSpPr/>
          <p:nvPr>
            <p:ph idx="2" type="sldImg"/>
          </p:nvPr>
        </p:nvSpPr>
        <p:spPr>
          <a:xfrm>
            <a:off x="2217009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2d62e6aa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5bb0EKqPG0fOwsSVINjZPeuDOkHhsuW_?usp=sharing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27175" y="163525"/>
            <a:ext cx="7044600" cy="122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250"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4250">
                <a:latin typeface="Bree Serif"/>
                <a:ea typeface="Bree Serif"/>
                <a:cs typeface="Bree Serif"/>
                <a:sym typeface="Bree Serif"/>
              </a:rPr>
              <a:t>Ecosystems Handbook</a:t>
            </a:r>
            <a:endParaRPr sz="4250"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4250"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1475" y="1049900"/>
            <a:ext cx="3645600" cy="2532300"/>
          </a:xfrm>
          <a:prstGeom prst="rect">
            <a:avLst/>
          </a:prstGeom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00"/>
              <a:t>Who are you?</a:t>
            </a:r>
            <a:endParaRPr sz="180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2487" r="0" t="0"/>
          <a:stretch/>
        </p:blipFill>
        <p:spPr>
          <a:xfrm>
            <a:off x="3842300" y="1049900"/>
            <a:ext cx="3408000" cy="492764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84975" y="5777738"/>
            <a:ext cx="3678600" cy="604500"/>
          </a:xfrm>
          <a:prstGeom prst="rect">
            <a:avLst/>
          </a:prstGeom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3090"/>
              <a:t>Why are you here?</a:t>
            </a:r>
            <a:endParaRPr sz="775"/>
          </a:p>
        </p:txBody>
      </p:sp>
      <p:sp>
        <p:nvSpPr>
          <p:cNvPr id="58" name="Google Shape;58;p13"/>
          <p:cNvSpPr txBox="1"/>
          <p:nvPr>
            <p:ph idx="4294967295" type="body"/>
          </p:nvPr>
        </p:nvSpPr>
        <p:spPr>
          <a:xfrm>
            <a:off x="101475" y="6476025"/>
            <a:ext cx="7044600" cy="40905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1603"/>
              <a:buNone/>
            </a:pPr>
            <a:r>
              <a:rPr b="1" lang="en" sz="1914"/>
              <a:t>Learning Objectives:</a:t>
            </a:r>
            <a:endParaRPr b="1" sz="191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603"/>
              <a:buFont typeface="Arial"/>
              <a:buNone/>
            </a:pPr>
            <a:r>
              <a:t/>
            </a:r>
            <a:endParaRPr b="1" sz="191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b="1" i="1" lang="en" sz="1797"/>
              <a:t>Knowledge:</a:t>
            </a:r>
            <a:endParaRPr b="1" i="1"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1. Measure water quality using biological 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indicators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2. Identify common species of freshwater 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stream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672"/>
              <a:buNone/>
            </a:pPr>
            <a:r>
              <a:rPr lang="en" sz="1797"/>
              <a:t>3. Identify the relationships between different abiotic and biotic factors in freshwater streams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t/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b="1" i="1" lang="en" sz="1797"/>
              <a:t>Skills:</a:t>
            </a:r>
            <a:endParaRPr b="1" i="1"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1. Enhance scientific process skills: repeatability, reliability, standardising methods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2. Apply scientific language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3. Make accurate observations and measurements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t/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b="1" i="1" lang="en" sz="1797"/>
              <a:t>Attitude:</a:t>
            </a:r>
            <a:endParaRPr b="1" i="1"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1. Appreciate the high biodiversity in local stream ecosystem.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672"/>
              <a:buFont typeface="Arial"/>
              <a:buNone/>
            </a:pPr>
            <a:r>
              <a:rPr lang="en" sz="1797"/>
              <a:t>2. Recognise the effect of human activities on the stream ecosystem</a:t>
            </a:r>
            <a:endParaRPr sz="179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3672"/>
              <a:buNone/>
            </a:pPr>
            <a:r>
              <a:rPr lang="en" sz="1797"/>
              <a:t>3. Recognise the need and their responsibility to conserve local stream</a:t>
            </a:r>
            <a:endParaRPr sz="910"/>
          </a:p>
        </p:txBody>
      </p:sp>
      <p:sp>
        <p:nvSpPr>
          <p:cNvPr id="59" name="Google Shape;59;p13"/>
          <p:cNvSpPr txBox="1"/>
          <p:nvPr/>
        </p:nvSpPr>
        <p:spPr>
          <a:xfrm>
            <a:off x="101475" y="3746975"/>
            <a:ext cx="3645600" cy="1866000"/>
          </a:xfrm>
          <a:prstGeom prst="rect">
            <a:avLst/>
          </a:prstGeom>
          <a:solidFill>
            <a:srgbClr val="D9D9D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</a:rPr>
              <a:t>Reflection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 will be asked to chose three images to reflect on your day. Keep a photographic record as you go along today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b="0" l="0" r="1215" t="0"/>
          <a:stretch/>
        </p:blipFill>
        <p:spPr>
          <a:xfrm>
            <a:off x="104225" y="1589925"/>
            <a:ext cx="3567149" cy="18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b="0" l="7809" r="0" t="0"/>
          <a:stretch/>
        </p:blipFill>
        <p:spPr>
          <a:xfrm>
            <a:off x="3780000" y="6635475"/>
            <a:ext cx="3235599" cy="11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560000" cy="370025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" name="Google Shape;67;p14"/>
          <p:cNvGraphicFramePr/>
          <p:nvPr/>
        </p:nvGraphicFramePr>
        <p:xfrm>
          <a:off x="371000" y="4488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5561825"/>
                <a:gridCol w="1361375"/>
              </a:tblGrid>
              <a:tr h="37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Handbook, clipboard and pencil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62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 charged phone with teacher contacts and knowledge of numbers for emergency services? 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Species identification guide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lphaLcParenR"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Paper copy of ID chart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AutoNum type="alphaLcParenR"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iSeek App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4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Sample Bottle (250mL)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Net (Groups 1-4) These will be passed up the river as </a:t>
                      </a:r>
                      <a:r>
                        <a:rPr lang="en" sz="1500"/>
                        <a:t>samples are taken below you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Sample </a:t>
                      </a:r>
                      <a:r>
                        <a:rPr lang="en" sz="1500"/>
                        <a:t>Tray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Kick </a:t>
                      </a:r>
                      <a:r>
                        <a:rPr lang="en" sz="1500"/>
                        <a:t>Quadrat</a:t>
                      </a:r>
                      <a:endParaRPr sz="15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7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Wellies</a:t>
                      </a:r>
                      <a:endParaRPr sz="15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Magnifying glasses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Water testing strips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2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Thermometer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Creamer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99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Ruler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4"/>
          <p:cNvSpPr txBox="1"/>
          <p:nvPr/>
        </p:nvSpPr>
        <p:spPr>
          <a:xfrm>
            <a:off x="371000" y="3851313"/>
            <a:ext cx="52767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Task 1. Equipment checklist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257705" y="213441"/>
            <a:ext cx="70446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2487" r="0" t="0"/>
          <a:stretch/>
        </p:blipFill>
        <p:spPr>
          <a:xfrm>
            <a:off x="0" y="0"/>
            <a:ext cx="7394672" cy="1069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57700" y="137275"/>
            <a:ext cx="7044600" cy="726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Physico-chemical Indicators (</a:t>
            </a:r>
            <a:r>
              <a:rPr b="1" lang="en"/>
              <a:t>~</a:t>
            </a:r>
            <a:r>
              <a:rPr b="1" lang="en" sz="2800"/>
              <a:t>15 mins</a:t>
            </a:r>
            <a:r>
              <a:rPr b="1" lang="en"/>
              <a:t>)</a:t>
            </a:r>
            <a:endParaRPr b="1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257700" y="922325"/>
            <a:ext cx="6049500" cy="586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635"/>
              <a:t>What position on the stream are you? (1-10)</a:t>
            </a:r>
            <a:endParaRPr sz="3646"/>
          </a:p>
        </p:txBody>
      </p:sp>
      <p:sp>
        <p:nvSpPr>
          <p:cNvPr id="82" name="Google Shape;82;p16"/>
          <p:cNvSpPr txBox="1"/>
          <p:nvPr/>
        </p:nvSpPr>
        <p:spPr>
          <a:xfrm>
            <a:off x="6434400" y="922325"/>
            <a:ext cx="867900" cy="586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257700" y="161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1342500"/>
                <a:gridCol w="866475"/>
                <a:gridCol w="518875"/>
                <a:gridCol w="534975"/>
                <a:gridCol w="534975"/>
              </a:tblGrid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Type of water flow</a:t>
                      </a:r>
                      <a:endParaRPr sz="1600"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*pool/riffle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mean</a:t>
                      </a:r>
                      <a:endParaRPr b="1" sz="1200"/>
                    </a:p>
                  </a:txBody>
                  <a:tcPr marT="19050" marB="19050" marR="28575" marL="28575" anchor="ctr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r>
                        <a:rPr lang="en"/>
                        <a:t>elocity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</a:t>
                      </a:r>
                      <a:r>
                        <a:rPr lang="en"/>
                        <a:t>idth of river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</a:t>
                      </a:r>
                      <a:r>
                        <a:rPr lang="en"/>
                        <a:t>epth of river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</a:t>
                      </a:r>
                      <a:r>
                        <a:rPr lang="en"/>
                        <a:t>mperature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Nitrates</a:t>
                      </a:r>
                      <a:endParaRPr/>
                    </a:p>
                  </a:txBody>
                  <a:tcPr marT="19050" marB="19050" marR="28575" marL="28575" anchor="b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5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84" name="Google Shape;84;p16"/>
          <p:cNvSpPr/>
          <p:nvPr/>
        </p:nvSpPr>
        <p:spPr>
          <a:xfrm>
            <a:off x="297050" y="8338250"/>
            <a:ext cx="3579600" cy="224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measure velocity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Place a meter ruler in the water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Hold a </a:t>
            </a:r>
            <a:r>
              <a:rPr lang="en"/>
              <a:t>phone</a:t>
            </a:r>
            <a:r>
              <a:rPr lang="en"/>
              <a:t> above the ruler and video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Release creamer and film the movement holding the phone still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Calculate the time taken for the creamer to move 1m - repeat as </a:t>
            </a:r>
            <a:r>
              <a:rPr lang="en"/>
              <a:t>necessary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velocity = distance/time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297050" y="4974850"/>
            <a:ext cx="3797700" cy="907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measure 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 - place the probe the middle of the water column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this with the litmus paper indicator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189350" y="8306700"/>
            <a:ext cx="3159000" cy="228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measure temperature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Hold the thermometer in the </a:t>
            </a:r>
            <a:r>
              <a:rPr b="1" lang="en"/>
              <a:t>middle </a:t>
            </a:r>
            <a:r>
              <a:rPr lang="en"/>
              <a:t>of the water column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</a:t>
            </a:r>
            <a:r>
              <a:rPr b="1" lang="en"/>
              <a:t> 30s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temperature </a:t>
            </a:r>
            <a:r>
              <a:rPr lang="en">
                <a:solidFill>
                  <a:schemeClr val="dk1"/>
                </a:solidFill>
              </a:rPr>
              <a:t>whilst </a:t>
            </a:r>
            <a:r>
              <a:rPr b="1" lang="en">
                <a:solidFill>
                  <a:schemeClr val="dk1"/>
                </a:solidFill>
              </a:rPr>
              <a:t>still in the water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analogue - read at at eye level  (get down to the thermometer)</a:t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4212450" y="1630825"/>
            <a:ext cx="3112800" cy="32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need to REPEAT  the method for reliability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need to STANDARDISE the method for accuracy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to make the data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comparable</a:t>
            </a:r>
            <a:r>
              <a:rPr b="1" lang="en"/>
              <a:t> between sites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comparable between </a:t>
            </a:r>
            <a:r>
              <a:rPr b="1" lang="en"/>
              <a:t>different years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how to do this below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4212450" y="4938925"/>
            <a:ext cx="3159000" cy="21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 measure depth and width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Hold the meter ruler in the water at three location on your site</a:t>
            </a:r>
            <a:r>
              <a:rPr b="1" lang="en" sz="1200"/>
              <a:t> vertically touching the stream bed. </a:t>
            </a:r>
            <a:r>
              <a:rPr lang="en" sz="1200"/>
              <a:t>Measure where the water line is</a:t>
            </a:r>
            <a:r>
              <a:rPr b="1" lang="en" sz="1200"/>
              <a:t> most of the time over 30 seconds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Measure three widths of the stream at the edge of the water where it meets the bank horizontally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10225" l="3484" r="44598" t="0"/>
          <a:stretch/>
        </p:blipFill>
        <p:spPr>
          <a:xfrm rot="-5400000">
            <a:off x="2063062" y="5328487"/>
            <a:ext cx="1171025" cy="47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297050" y="5923663"/>
            <a:ext cx="3797700" cy="112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Nitrates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 stick in </a:t>
            </a:r>
            <a:r>
              <a:rPr b="1" lang="en"/>
              <a:t>middle </a:t>
            </a:r>
            <a:r>
              <a:rPr lang="en"/>
              <a:t>of water column for </a:t>
            </a:r>
            <a:r>
              <a:rPr b="1" lang="en"/>
              <a:t>2 seconds</a:t>
            </a:r>
            <a:r>
              <a:rPr b="1" lang="en">
                <a:solidFill>
                  <a:srgbClr val="FF0000"/>
                </a:solidFill>
              </a:rPr>
              <a:t> </a:t>
            </a:r>
            <a:r>
              <a:rPr i="1" lang="en">
                <a:solidFill>
                  <a:srgbClr val="FF0000"/>
                </a:solidFill>
              </a:rPr>
              <a:t>Do not move it about</a:t>
            </a:r>
            <a:endParaRPr i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Wait </a:t>
            </a:r>
            <a:r>
              <a:rPr b="1" lang="en"/>
              <a:t>1 minute </a:t>
            </a:r>
            <a:r>
              <a:rPr lang="en"/>
              <a:t>check colour against chart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301650" y="1208875"/>
            <a:ext cx="3561600" cy="873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 to collect a Kick Sample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You need: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 net , a sorting </a:t>
            </a:r>
            <a:r>
              <a:rPr lang="en" sz="1200">
                <a:solidFill>
                  <a:schemeClr val="dk2"/>
                </a:solidFill>
              </a:rPr>
              <a:t>tray, spoons and pooters, </a:t>
            </a:r>
            <a:r>
              <a:rPr lang="en" sz="1200">
                <a:solidFill>
                  <a:schemeClr val="dk2"/>
                </a:solidFill>
              </a:rPr>
              <a:t>Wellies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257700" y="81000"/>
            <a:ext cx="7044600" cy="1007100"/>
          </a:xfrm>
          <a:prstGeom prst="rect">
            <a:avLst/>
          </a:prstGeom>
          <a:solidFill>
            <a:srgbClr val="EFEFE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850"/>
              <a:t>Exploring the Biotic Community in and around the Local Stream (1 hour)</a:t>
            </a:r>
            <a:r>
              <a:rPr lang="en" sz="1300"/>
              <a:t> </a:t>
            </a:r>
            <a:r>
              <a:rPr lang="en" sz="1400"/>
              <a:t>Identifying species at your stream site using a </a:t>
            </a:r>
            <a:r>
              <a:rPr b="1" lang="en" sz="1400"/>
              <a:t>standardised method </a:t>
            </a:r>
            <a:r>
              <a:rPr lang="en" sz="1400"/>
              <a:t>for the kick sample (30 minutes)</a:t>
            </a:r>
            <a:endParaRPr b="1" sz="1950"/>
          </a:p>
        </p:txBody>
      </p:sp>
      <p:sp>
        <p:nvSpPr>
          <p:cNvPr id="97" name="Google Shape;97;p17"/>
          <p:cNvSpPr txBox="1"/>
          <p:nvPr/>
        </p:nvSpPr>
        <p:spPr>
          <a:xfrm>
            <a:off x="279750" y="2202650"/>
            <a:ext cx="7000500" cy="1922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Standardise your method</a:t>
            </a:r>
            <a:endParaRPr sz="18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Choose a </a:t>
            </a:r>
            <a:r>
              <a:rPr b="1" lang="en" sz="1200">
                <a:solidFill>
                  <a:schemeClr val="dk2"/>
                </a:solidFill>
              </a:rPr>
              <a:t>safe</a:t>
            </a:r>
            <a:r>
              <a:rPr lang="en" sz="1200">
                <a:solidFill>
                  <a:schemeClr val="dk2"/>
                </a:solidFill>
              </a:rPr>
              <a:t> location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One person hold the net vertically making 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sure the net is flat against the streambed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" sz="1200">
                <a:solidFill>
                  <a:schemeClr val="dk2"/>
                </a:solidFill>
              </a:rPr>
              <a:t>Wash large rocks </a:t>
            </a:r>
            <a:r>
              <a:rPr lang="en" sz="1200">
                <a:solidFill>
                  <a:schemeClr val="dk2"/>
                </a:solidFill>
              </a:rPr>
              <a:t>with your hands into the net and </a:t>
            </a:r>
            <a:r>
              <a:rPr b="1" lang="en" sz="1200">
                <a:solidFill>
                  <a:schemeClr val="dk2"/>
                </a:solidFill>
              </a:rPr>
              <a:t>build a barrier </a:t>
            </a:r>
            <a:r>
              <a:rPr lang="en" sz="1200">
                <a:solidFill>
                  <a:schemeClr val="dk2"/>
                </a:solidFill>
              </a:rPr>
              <a:t>either side of the net with the rocks to </a:t>
            </a:r>
            <a:r>
              <a:rPr b="1" lang="en" sz="1200">
                <a:solidFill>
                  <a:schemeClr val="dk2"/>
                </a:solidFill>
              </a:rPr>
              <a:t>chanel the water flow </a:t>
            </a:r>
            <a:r>
              <a:rPr lang="en" sz="1200">
                <a:solidFill>
                  <a:schemeClr val="dk2"/>
                </a:solidFill>
              </a:rPr>
              <a:t>into the net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Place a </a:t>
            </a:r>
            <a:r>
              <a:rPr b="1" lang="en" sz="1200">
                <a:solidFill>
                  <a:schemeClr val="dk2"/>
                </a:solidFill>
              </a:rPr>
              <a:t>quadrat in the stream</a:t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Scrape with your heel for </a:t>
            </a:r>
            <a:r>
              <a:rPr b="1" lang="en" sz="1200">
                <a:solidFill>
                  <a:schemeClr val="dk2"/>
                </a:solidFill>
              </a:rPr>
              <a:t>1</a:t>
            </a:r>
            <a:r>
              <a:rPr b="1" lang="en" sz="1200">
                <a:solidFill>
                  <a:schemeClr val="dk2"/>
                </a:solidFill>
              </a:rPr>
              <a:t> minute</a:t>
            </a:r>
            <a:r>
              <a:rPr lang="en" sz="1200">
                <a:solidFill>
                  <a:schemeClr val="dk2"/>
                </a:solidFill>
              </a:rPr>
              <a:t> to dislodge invertebrates into the net 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087" y="859849"/>
            <a:ext cx="3205325" cy="20605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" name="Google Shape;99;p17"/>
          <p:cNvGraphicFramePr/>
          <p:nvPr/>
        </p:nvGraphicFramePr>
        <p:xfrm>
          <a:off x="374300" y="73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1732000"/>
                <a:gridCol w="1732000"/>
                <a:gridCol w="1732000"/>
                <a:gridCol w="1732000"/>
              </a:tblGrid>
              <a:tr h="34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Species 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Number (n)</a:t>
                      </a:r>
                      <a:endParaRPr b="1" sz="12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Species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Number (n)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stonefly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Damsel fly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mayfly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Black fly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Uncased Caddis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shrimp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Cased caddis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snail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Siffle beetle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leech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Beetle larvae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Water penny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1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Flat worm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Segmented worm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0850" y="4179875"/>
            <a:ext cx="5995474" cy="3081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301650" y="4322213"/>
            <a:ext cx="1189200" cy="287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Use the pooters and spoons to sort the organisms in the sorting tray for </a:t>
            </a:r>
            <a:r>
              <a:rPr b="1" lang="en" sz="1200">
                <a:solidFill>
                  <a:schemeClr val="dk2"/>
                </a:solidFill>
              </a:rPr>
              <a:t>10 minutes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Take a picture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Count the organisms and record from the picture if it is easier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73250" y="10198775"/>
            <a:ext cx="6927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From this you can calculate biotic index to measure water quality !!!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57700" y="325825"/>
            <a:ext cx="7044600" cy="6942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459"/>
              <a:buFont typeface="Arial"/>
              <a:buNone/>
            </a:pPr>
            <a:r>
              <a:rPr b="1" lang="en" sz="1850"/>
              <a:t>Meadow: Marsh V Drained agriculture</a:t>
            </a:r>
            <a:endParaRPr b="1" sz="1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6154"/>
              <a:buFont typeface="Arial"/>
              <a:buNone/>
            </a:pPr>
            <a:r>
              <a:rPr lang="en" sz="1300"/>
              <a:t>Comparing two sites for species diversity and species richness</a:t>
            </a:r>
            <a:r>
              <a:rPr lang="en" sz="1400"/>
              <a:t> (30 minutes)</a:t>
            </a:r>
            <a:endParaRPr b="1" sz="1850"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257700" y="3033525"/>
            <a:ext cx="5939700" cy="32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We will carry out </a:t>
            </a:r>
            <a:r>
              <a:rPr b="1" lang="en" sz="1400"/>
              <a:t>random sampling</a:t>
            </a:r>
            <a:r>
              <a:rPr lang="en" sz="1400"/>
              <a:t> of the </a:t>
            </a:r>
            <a:r>
              <a:rPr b="1" lang="en" sz="1400"/>
              <a:t>plant life </a:t>
            </a:r>
            <a:r>
              <a:rPr lang="en" sz="1400"/>
              <a:t>in two sites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Marsh ungrazed  and Drained grazed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Step 1: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Agree on the species labels A, B, C, D etc on a card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Take a picture of the ID chart (you can identify species later using iseek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Lay out two 30m tape measures at right angles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Find a random coordinate using a </a:t>
            </a:r>
            <a:r>
              <a:rPr b="1" lang="en" sz="1400"/>
              <a:t>random number generator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Place the </a:t>
            </a:r>
            <a:r>
              <a:rPr b="1" lang="en" sz="1400"/>
              <a:t>bottom left corner of the quadrat at the coordinate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Each square represents 4%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the species is present in the square count it as 4% if it is absent it gets 0%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Record % cover in the table for each species. 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50087" t="0"/>
          <a:stretch/>
        </p:blipFill>
        <p:spPr>
          <a:xfrm>
            <a:off x="257700" y="1020028"/>
            <a:ext cx="2225450" cy="19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0000" y="1177450"/>
            <a:ext cx="2270875" cy="14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7725" y="1119150"/>
            <a:ext cx="1759138" cy="15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2850" y="4023000"/>
            <a:ext cx="799601" cy="3900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p18"/>
          <p:cNvGraphicFramePr/>
          <p:nvPr/>
        </p:nvGraphicFramePr>
        <p:xfrm>
          <a:off x="501700" y="59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882425"/>
                <a:gridCol w="2412950"/>
                <a:gridCol w="927300"/>
                <a:gridCol w="2368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Species 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% cover 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Species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% cover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" name="Google Shape;114;p18"/>
          <p:cNvSpPr txBox="1"/>
          <p:nvPr/>
        </p:nvSpPr>
        <p:spPr>
          <a:xfrm>
            <a:off x="533200" y="9718900"/>
            <a:ext cx="65592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From this you can calculate: simpsons </a:t>
            </a:r>
            <a:r>
              <a:rPr lang="en" sz="1200">
                <a:solidFill>
                  <a:srgbClr val="FF0000"/>
                </a:solidFill>
              </a:rPr>
              <a:t>diversity</a:t>
            </a:r>
            <a:r>
              <a:rPr lang="en" sz="1200">
                <a:solidFill>
                  <a:srgbClr val="FF0000"/>
                </a:solidFill>
              </a:rPr>
              <a:t> index and presence absence of species against abiotic factors !!! </a:t>
            </a:r>
            <a:endParaRPr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257700" y="168825"/>
            <a:ext cx="7044600" cy="7305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470">
                <a:solidFill>
                  <a:schemeClr val="dk2"/>
                </a:solidFill>
              </a:rPr>
              <a:t>Extension: </a:t>
            </a:r>
            <a:r>
              <a:rPr lang="en" sz="1470">
                <a:solidFill>
                  <a:schemeClr val="dk2"/>
                </a:solidFill>
              </a:rPr>
              <a:t>How does the distribution of species vary as you move away from the stream?</a:t>
            </a:r>
            <a:r>
              <a:rPr b="1" lang="en" sz="1860"/>
              <a:t> </a:t>
            </a:r>
            <a:r>
              <a:rPr b="1" lang="en" sz="1660"/>
              <a:t>Conducting a line transect biological survey</a:t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4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350"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050" y="6502400"/>
            <a:ext cx="799601" cy="39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750" y="1690475"/>
            <a:ext cx="6727600" cy="35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288300" y="1176325"/>
            <a:ext cx="6983400" cy="56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Here are two methods to collect this type of data. You will use the line transect method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Setup a 10 metre line </a:t>
            </a:r>
            <a:r>
              <a:rPr lang="en" sz="1800">
                <a:solidFill>
                  <a:schemeClr val="dk2"/>
                </a:solidFill>
              </a:rPr>
              <a:t>from t</a:t>
            </a:r>
            <a:r>
              <a:rPr lang="en" sz="1800">
                <a:solidFill>
                  <a:schemeClr val="dk2"/>
                </a:solidFill>
              </a:rPr>
              <a:t>he edge of the river.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Prepare to identify and record all the species in 1 metre intervals within the quadrat in the same way as previously done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Use the iSeek App and start </a:t>
            </a:r>
            <a:r>
              <a:rPr lang="en" sz="1800">
                <a:solidFill>
                  <a:schemeClr val="dk2"/>
                </a:solidFill>
              </a:rPr>
              <a:t>identifying. 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23" name="Google Shape;123;p19"/>
          <p:cNvGraphicFramePr/>
          <p:nvPr/>
        </p:nvGraphicFramePr>
        <p:xfrm>
          <a:off x="346750" y="715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1154175"/>
                <a:gridCol w="1154175"/>
                <a:gridCol w="1154175"/>
                <a:gridCol w="1154175"/>
                <a:gridCol w="1154175"/>
                <a:gridCol w="1154175"/>
              </a:tblGrid>
              <a:tr h="29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9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4" name="Google Shape;124;p19"/>
          <p:cNvGraphicFramePr/>
          <p:nvPr/>
        </p:nvGraphicFramePr>
        <p:xfrm>
          <a:off x="346750" y="876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{10C9D340-4878-4DA4-AC3D-1D19D77E9287}</a:tableStyleId>
              </a:tblPr>
              <a:tblGrid>
                <a:gridCol w="1385000"/>
                <a:gridCol w="1385000"/>
                <a:gridCol w="1385000"/>
                <a:gridCol w="1385000"/>
                <a:gridCol w="13850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257700" y="375123"/>
            <a:ext cx="7044600" cy="10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Challenging Question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Local focus: </a:t>
            </a:r>
            <a:endParaRPr b="1"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What is water quality like in this stream in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Switzerland?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Does this reflect the quality of water everywhere in Switzerland?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400"/>
              <a:t>Global focus: </a:t>
            </a:r>
            <a:endParaRPr b="1"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Does this reflect the water quality in your home country?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General questions: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</a:t>
            </a:r>
            <a:r>
              <a:rPr lang="en" sz="1400"/>
              <a:t>hat are the challenges that aquatic animals in stream face?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What are the adaptive features of these organisms to the challenges found in their environment?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/>
              <a:t>R</a:t>
            </a:r>
            <a:r>
              <a:rPr b="1" lang="en" sz="1900" u="sng"/>
              <a:t>eflection</a:t>
            </a:r>
            <a:endParaRPr b="1" sz="1900" u="sng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i="1" lang="en" sz="1900"/>
              <a:t>Provide three images</a:t>
            </a:r>
            <a:endParaRPr i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i="1" lang="en" sz="1900"/>
              <a:t>state why you used these images </a:t>
            </a:r>
            <a:endParaRPr i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i="1" lang="en" sz="1900"/>
              <a:t>Save in this folder </a:t>
            </a:r>
            <a:endParaRPr i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i="1" lang="en" sz="1000" u="sng">
                <a:solidFill>
                  <a:schemeClr val="hlink"/>
                </a:solidFill>
                <a:hlinkClick r:id="rId3"/>
              </a:rPr>
              <a:t>https://drive.google.com/drive/folders/15bb0EKqPG0fOwsSVINjZPeuDOkHhsuW_?usp=sharing</a:t>
            </a:r>
            <a:r>
              <a:rPr i="1" lang="en" sz="1000"/>
              <a:t> </a:t>
            </a:r>
            <a:endParaRPr i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0" l="7809" r="0" t="0"/>
          <a:stretch/>
        </p:blipFill>
        <p:spPr>
          <a:xfrm>
            <a:off x="3943300" y="375125"/>
            <a:ext cx="3235599" cy="11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3525" y="6243149"/>
            <a:ext cx="1871649" cy="198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